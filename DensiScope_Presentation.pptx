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43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10528"/>
            <a:ext cx="11430000" cy="0"/>
          </a:xfrm>
          <a:prstGeom prst="line">
            <a:avLst/>
          </a:prstGeom>
          <a:noFill/>
          <a:ln w="12700">
            <a:solidFill>
              <a:srgbClr val="17304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02920" y="65562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8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72600" y="65562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&amp; Algorithms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7967" y="428075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9897967" y="4280755"/>
            <a:ext cx="0" cy="75747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9897967" y="4280755"/>
            <a:ext cx="360705" cy="35044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9897967" y="428075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9897967" y="4280755"/>
            <a:ext cx="0" cy="35550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9897967" y="4280755"/>
            <a:ext cx="498700" cy="840228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Shape 6"/>
          <p:cNvSpPr/>
          <p:nvPr/>
        </p:nvSpPr>
        <p:spPr>
          <a:xfrm>
            <a:off x="9897967" y="4280755"/>
            <a:ext cx="47361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7239927" y="2307101"/>
            <a:ext cx="0" cy="95949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7239927" y="2307101"/>
            <a:ext cx="77572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7239927" y="2307101"/>
            <a:ext cx="869374" cy="31179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7602274" y="4666946"/>
            <a:ext cx="210258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7602274" y="466694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7602274" y="466694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7602274" y="4666946"/>
            <a:ext cx="257123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10050017" y="1700298"/>
            <a:ext cx="0" cy="61487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10050017" y="1700298"/>
            <a:ext cx="690702" cy="17690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10050017" y="1700298"/>
            <a:ext cx="46062" cy="78595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10050017" y="1700298"/>
            <a:ext cx="527842" cy="10203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10050017" y="1700298"/>
            <a:ext cx="0" cy="33678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10050017" y="1700298"/>
            <a:ext cx="0" cy="96399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10050017" y="1700298"/>
            <a:ext cx="0" cy="41615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10050017" y="1700298"/>
            <a:ext cx="0" cy="83822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10050017" y="1700298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9523206" y="2315175"/>
            <a:ext cx="66240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9523206" y="2315175"/>
            <a:ext cx="572873" cy="17108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9523206" y="231517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9523206" y="2315175"/>
            <a:ext cx="258230" cy="60660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9523206" y="2315175"/>
            <a:ext cx="189175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9523206" y="231517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7726825" y="4834092"/>
            <a:ext cx="85708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7726825" y="4834092"/>
            <a:ext cx="0" cy="49292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Shape 31"/>
          <p:cNvSpPr/>
          <p:nvPr/>
        </p:nvSpPr>
        <p:spPr>
          <a:xfrm>
            <a:off x="7726825" y="4834092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7726825" y="4834092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7726825" y="4834092"/>
            <a:ext cx="132572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9170828" y="3761844"/>
            <a:ext cx="167137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9170828" y="3761844"/>
            <a:ext cx="391413" cy="87441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9170828" y="3761844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9" name="Shape 37"/>
          <p:cNvSpPr/>
          <p:nvPr/>
        </p:nvSpPr>
        <p:spPr>
          <a:xfrm>
            <a:off x="10780097" y="2875461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0" name="Shape 38"/>
          <p:cNvSpPr/>
          <p:nvPr/>
        </p:nvSpPr>
        <p:spPr>
          <a:xfrm>
            <a:off x="10780097" y="2875461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10780097" y="2875461"/>
            <a:ext cx="0" cy="46316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10780097" y="2875461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Shape 41"/>
          <p:cNvSpPr/>
          <p:nvPr/>
        </p:nvSpPr>
        <p:spPr>
          <a:xfrm>
            <a:off x="8745384" y="2656416"/>
            <a:ext cx="592581" cy="85701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4" name="Shape 42"/>
          <p:cNvSpPr/>
          <p:nvPr/>
        </p:nvSpPr>
        <p:spPr>
          <a:xfrm>
            <a:off x="8745384" y="2656416"/>
            <a:ext cx="896644" cy="7873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5" name="Shape 43"/>
          <p:cNvSpPr/>
          <p:nvPr/>
        </p:nvSpPr>
        <p:spPr>
          <a:xfrm>
            <a:off x="8745384" y="265641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6" name="Shape 44"/>
          <p:cNvSpPr/>
          <p:nvPr/>
        </p:nvSpPr>
        <p:spPr>
          <a:xfrm>
            <a:off x="8745384" y="265641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7" name="Shape 45"/>
          <p:cNvSpPr/>
          <p:nvPr/>
        </p:nvSpPr>
        <p:spPr>
          <a:xfrm>
            <a:off x="9511061" y="5324764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8" name="Shape 46"/>
          <p:cNvSpPr/>
          <p:nvPr/>
        </p:nvSpPr>
        <p:spPr>
          <a:xfrm>
            <a:off x="9511061" y="5324764"/>
            <a:ext cx="747611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Shape 47"/>
          <p:cNvSpPr/>
          <p:nvPr/>
        </p:nvSpPr>
        <p:spPr>
          <a:xfrm>
            <a:off x="9511061" y="5324764"/>
            <a:ext cx="5118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0" name="Shape 48"/>
          <p:cNvSpPr/>
          <p:nvPr/>
        </p:nvSpPr>
        <p:spPr>
          <a:xfrm>
            <a:off x="9511061" y="5324764"/>
            <a:ext cx="885606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1" name="Shape 49"/>
          <p:cNvSpPr/>
          <p:nvPr/>
        </p:nvSpPr>
        <p:spPr>
          <a:xfrm>
            <a:off x="9337163" y="5038234"/>
            <a:ext cx="921508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2" name="Shape 50"/>
          <p:cNvSpPr/>
          <p:nvPr/>
        </p:nvSpPr>
        <p:spPr>
          <a:xfrm>
            <a:off x="9337163" y="5038234"/>
            <a:ext cx="225078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3" name="Shape 51"/>
          <p:cNvSpPr/>
          <p:nvPr/>
        </p:nvSpPr>
        <p:spPr>
          <a:xfrm>
            <a:off x="10258672" y="463119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4" name="Shape 52"/>
          <p:cNvSpPr/>
          <p:nvPr/>
        </p:nvSpPr>
        <p:spPr>
          <a:xfrm>
            <a:off x="10258672" y="4631195"/>
            <a:ext cx="169505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5" name="Shape 53"/>
          <p:cNvSpPr/>
          <p:nvPr/>
        </p:nvSpPr>
        <p:spPr>
          <a:xfrm>
            <a:off x="10185606" y="2079098"/>
            <a:ext cx="555113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6" name="Shape 54"/>
          <p:cNvSpPr/>
          <p:nvPr/>
        </p:nvSpPr>
        <p:spPr>
          <a:xfrm>
            <a:off x="10185606" y="2079098"/>
            <a:ext cx="0" cy="40715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7" name="Shape 55"/>
          <p:cNvSpPr/>
          <p:nvPr/>
        </p:nvSpPr>
        <p:spPr>
          <a:xfrm>
            <a:off x="10185606" y="2079098"/>
            <a:ext cx="291153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8" name="Shape 56"/>
          <p:cNvSpPr/>
          <p:nvPr/>
        </p:nvSpPr>
        <p:spPr>
          <a:xfrm>
            <a:off x="10185606" y="2079098"/>
            <a:ext cx="392253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9" name="Shape 57"/>
          <p:cNvSpPr/>
          <p:nvPr/>
        </p:nvSpPr>
        <p:spPr>
          <a:xfrm>
            <a:off x="10185606" y="2079098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0" name="Shape 58"/>
          <p:cNvSpPr/>
          <p:nvPr/>
        </p:nvSpPr>
        <p:spPr>
          <a:xfrm>
            <a:off x="10185606" y="2079098"/>
            <a:ext cx="0" cy="58519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1" name="Shape 59"/>
          <p:cNvSpPr/>
          <p:nvPr/>
        </p:nvSpPr>
        <p:spPr>
          <a:xfrm>
            <a:off x="10185606" y="2079098"/>
            <a:ext cx="0" cy="37358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2" name="Shape 60"/>
          <p:cNvSpPr/>
          <p:nvPr/>
        </p:nvSpPr>
        <p:spPr>
          <a:xfrm>
            <a:off x="10185606" y="2079098"/>
            <a:ext cx="0" cy="45942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3" name="Shape 61"/>
          <p:cNvSpPr/>
          <p:nvPr/>
        </p:nvSpPr>
        <p:spPr>
          <a:xfrm>
            <a:off x="10185606" y="2079098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4" name="Shape 62"/>
          <p:cNvSpPr/>
          <p:nvPr/>
        </p:nvSpPr>
        <p:spPr>
          <a:xfrm>
            <a:off x="9337965" y="3513435"/>
            <a:ext cx="443471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5" name="Shape 63"/>
          <p:cNvSpPr/>
          <p:nvPr/>
        </p:nvSpPr>
        <p:spPr>
          <a:xfrm>
            <a:off x="9337965" y="3513435"/>
            <a:ext cx="607362" cy="200125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6" name="Shape 64"/>
          <p:cNvSpPr/>
          <p:nvPr/>
        </p:nvSpPr>
        <p:spPr>
          <a:xfrm>
            <a:off x="9337965" y="351343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7" name="Shape 65"/>
          <p:cNvSpPr/>
          <p:nvPr/>
        </p:nvSpPr>
        <p:spPr>
          <a:xfrm>
            <a:off x="10740719" y="1877205"/>
            <a:ext cx="0" cy="60905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8" name="Shape 66"/>
          <p:cNvSpPr/>
          <p:nvPr/>
        </p:nvSpPr>
        <p:spPr>
          <a:xfrm>
            <a:off x="10740719" y="187720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9" name="Shape 67"/>
          <p:cNvSpPr/>
          <p:nvPr/>
        </p:nvSpPr>
        <p:spPr>
          <a:xfrm>
            <a:off x="10740719" y="187720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0" name="Shape 68"/>
          <p:cNvSpPr/>
          <p:nvPr/>
        </p:nvSpPr>
        <p:spPr>
          <a:xfrm>
            <a:off x="10740719" y="1877205"/>
            <a:ext cx="0" cy="661313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1" name="Shape 69"/>
          <p:cNvSpPr/>
          <p:nvPr/>
        </p:nvSpPr>
        <p:spPr>
          <a:xfrm>
            <a:off x="10323907" y="872442"/>
            <a:ext cx="152853" cy="58013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2" name="Shape 70"/>
          <p:cNvSpPr/>
          <p:nvPr/>
        </p:nvSpPr>
        <p:spPr>
          <a:xfrm>
            <a:off x="7812532" y="4548245"/>
            <a:ext cx="0" cy="77876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3" name="Shape 71"/>
          <p:cNvSpPr/>
          <p:nvPr/>
        </p:nvSpPr>
        <p:spPr>
          <a:xfrm>
            <a:off x="7812532" y="454824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4" name="Shape 72"/>
          <p:cNvSpPr/>
          <p:nvPr/>
        </p:nvSpPr>
        <p:spPr>
          <a:xfrm>
            <a:off x="7812532" y="4548245"/>
            <a:ext cx="0" cy="6121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5" name="Shape 73"/>
          <p:cNvSpPr/>
          <p:nvPr/>
        </p:nvSpPr>
        <p:spPr>
          <a:xfrm>
            <a:off x="7812532" y="454824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6" name="Shape 74"/>
          <p:cNvSpPr/>
          <p:nvPr/>
        </p:nvSpPr>
        <p:spPr>
          <a:xfrm>
            <a:off x="7812532" y="4548245"/>
            <a:ext cx="0" cy="26323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7" name="Shape 75"/>
          <p:cNvSpPr/>
          <p:nvPr/>
        </p:nvSpPr>
        <p:spPr>
          <a:xfrm>
            <a:off x="7812532" y="4548245"/>
            <a:ext cx="46864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8" name="Shape 76"/>
          <p:cNvSpPr/>
          <p:nvPr/>
        </p:nvSpPr>
        <p:spPr>
          <a:xfrm>
            <a:off x="7221555" y="5327013"/>
            <a:ext cx="16691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9" name="Shape 77"/>
          <p:cNvSpPr/>
          <p:nvPr/>
        </p:nvSpPr>
        <p:spPr>
          <a:xfrm>
            <a:off x="10700806" y="5019073"/>
            <a:ext cx="0" cy="10191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0" name="Shape 78"/>
          <p:cNvSpPr/>
          <p:nvPr/>
        </p:nvSpPr>
        <p:spPr>
          <a:xfrm>
            <a:off x="10700806" y="5019073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1" name="Shape 79"/>
          <p:cNvSpPr/>
          <p:nvPr/>
        </p:nvSpPr>
        <p:spPr>
          <a:xfrm>
            <a:off x="10096079" y="2486257"/>
            <a:ext cx="48178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2" name="Shape 80"/>
          <p:cNvSpPr/>
          <p:nvPr/>
        </p:nvSpPr>
        <p:spPr>
          <a:xfrm>
            <a:off x="10096079" y="2486257"/>
            <a:ext cx="0" cy="43551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3" name="Shape 81"/>
          <p:cNvSpPr/>
          <p:nvPr/>
        </p:nvSpPr>
        <p:spPr>
          <a:xfrm>
            <a:off x="10096079" y="2486257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4" name="Shape 82"/>
          <p:cNvSpPr/>
          <p:nvPr/>
        </p:nvSpPr>
        <p:spPr>
          <a:xfrm>
            <a:off x="10096079" y="2486257"/>
            <a:ext cx="0" cy="17803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5" name="Shape 83"/>
          <p:cNvSpPr/>
          <p:nvPr/>
        </p:nvSpPr>
        <p:spPr>
          <a:xfrm>
            <a:off x="10096079" y="2486257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6" name="Shape 84"/>
          <p:cNvSpPr/>
          <p:nvPr/>
        </p:nvSpPr>
        <p:spPr>
          <a:xfrm>
            <a:off x="10476760" y="1452572"/>
            <a:ext cx="101100" cy="34975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7" name="Shape 85"/>
          <p:cNvSpPr/>
          <p:nvPr/>
        </p:nvSpPr>
        <p:spPr>
          <a:xfrm>
            <a:off x="10476760" y="1452572"/>
            <a:ext cx="0" cy="584508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8" name="Shape 86"/>
          <p:cNvSpPr/>
          <p:nvPr/>
        </p:nvSpPr>
        <p:spPr>
          <a:xfrm>
            <a:off x="10577859" y="1802329"/>
            <a:ext cx="0" cy="73618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9" name="Shape 87"/>
          <p:cNvSpPr/>
          <p:nvPr/>
        </p:nvSpPr>
        <p:spPr>
          <a:xfrm>
            <a:off x="7484407" y="4287504"/>
            <a:ext cx="0" cy="32196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0" name="Shape 88"/>
          <p:cNvSpPr/>
          <p:nvPr/>
        </p:nvSpPr>
        <p:spPr>
          <a:xfrm>
            <a:off x="7484407" y="4287504"/>
            <a:ext cx="0" cy="9865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1" name="Shape 89"/>
          <p:cNvSpPr/>
          <p:nvPr/>
        </p:nvSpPr>
        <p:spPr>
          <a:xfrm>
            <a:off x="7484407" y="4287504"/>
            <a:ext cx="30708" cy="523973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2" name="Shape 90"/>
          <p:cNvSpPr/>
          <p:nvPr/>
        </p:nvSpPr>
        <p:spPr>
          <a:xfrm>
            <a:off x="7484407" y="4287504"/>
            <a:ext cx="374989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3" name="Shape 91"/>
          <p:cNvSpPr/>
          <p:nvPr/>
        </p:nvSpPr>
        <p:spPr>
          <a:xfrm>
            <a:off x="9006326" y="1677562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4" name="Shape 92"/>
          <p:cNvSpPr/>
          <p:nvPr/>
        </p:nvSpPr>
        <p:spPr>
          <a:xfrm>
            <a:off x="9006326" y="1677562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5" name="Shape 93"/>
          <p:cNvSpPr/>
          <p:nvPr/>
        </p:nvSpPr>
        <p:spPr>
          <a:xfrm>
            <a:off x="9006326" y="1677562"/>
            <a:ext cx="0" cy="3285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6" name="Shape 94"/>
          <p:cNvSpPr/>
          <p:nvPr/>
        </p:nvSpPr>
        <p:spPr>
          <a:xfrm>
            <a:off x="9006326" y="1677562"/>
            <a:ext cx="706056" cy="438893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7" name="Shape 95"/>
          <p:cNvSpPr/>
          <p:nvPr/>
        </p:nvSpPr>
        <p:spPr>
          <a:xfrm>
            <a:off x="8928678" y="1145194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8" name="Shape 96"/>
          <p:cNvSpPr/>
          <p:nvPr/>
        </p:nvSpPr>
        <p:spPr>
          <a:xfrm>
            <a:off x="8928678" y="1145194"/>
            <a:ext cx="0" cy="476773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9" name="Shape 97"/>
          <p:cNvSpPr/>
          <p:nvPr/>
        </p:nvSpPr>
        <p:spPr>
          <a:xfrm>
            <a:off x="8928678" y="1145194"/>
            <a:ext cx="403826" cy="480148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0" name="Shape 98"/>
          <p:cNvSpPr/>
          <p:nvPr/>
        </p:nvSpPr>
        <p:spPr>
          <a:xfrm>
            <a:off x="9781437" y="292177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1" name="Shape 99"/>
          <p:cNvSpPr/>
          <p:nvPr/>
        </p:nvSpPr>
        <p:spPr>
          <a:xfrm>
            <a:off x="9781437" y="292177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2" name="Shape 100"/>
          <p:cNvSpPr/>
          <p:nvPr/>
        </p:nvSpPr>
        <p:spPr>
          <a:xfrm>
            <a:off x="9781437" y="2921776"/>
            <a:ext cx="265793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3" name="Shape 101"/>
          <p:cNvSpPr/>
          <p:nvPr/>
        </p:nvSpPr>
        <p:spPr>
          <a:xfrm>
            <a:off x="8484633" y="817972"/>
            <a:ext cx="0" cy="803995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4" name="Shape 102"/>
          <p:cNvSpPr/>
          <p:nvPr/>
        </p:nvSpPr>
        <p:spPr>
          <a:xfrm>
            <a:off x="7238246" y="4609463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5" name="Shape 103"/>
          <p:cNvSpPr/>
          <p:nvPr/>
        </p:nvSpPr>
        <p:spPr>
          <a:xfrm>
            <a:off x="9562241" y="4636256"/>
            <a:ext cx="834426" cy="48472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6" name="Shape 104"/>
          <p:cNvSpPr/>
          <p:nvPr/>
        </p:nvSpPr>
        <p:spPr>
          <a:xfrm>
            <a:off x="9562241" y="4636256"/>
            <a:ext cx="383087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7" name="Shape 105"/>
          <p:cNvSpPr/>
          <p:nvPr/>
        </p:nvSpPr>
        <p:spPr>
          <a:xfrm>
            <a:off x="9562241" y="4636256"/>
            <a:ext cx="865936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8" name="Shape 106"/>
          <p:cNvSpPr/>
          <p:nvPr/>
        </p:nvSpPr>
        <p:spPr>
          <a:xfrm>
            <a:off x="10396667" y="5120983"/>
            <a:ext cx="3151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9" name="Shape 107"/>
          <p:cNvSpPr/>
          <p:nvPr/>
        </p:nvSpPr>
        <p:spPr>
          <a:xfrm>
            <a:off x="6991550" y="4386160"/>
            <a:ext cx="523564" cy="425316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0" name="Shape 108"/>
          <p:cNvSpPr/>
          <p:nvPr/>
        </p:nvSpPr>
        <p:spPr>
          <a:xfrm>
            <a:off x="8311805" y="1621968"/>
            <a:ext cx="0" cy="99693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1" name="Shape 109"/>
          <p:cNvSpPr/>
          <p:nvPr/>
        </p:nvSpPr>
        <p:spPr>
          <a:xfrm>
            <a:off x="7317499" y="2092233"/>
            <a:ext cx="791801" cy="526664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2" name="Shape 110"/>
          <p:cNvSpPr/>
          <p:nvPr/>
        </p:nvSpPr>
        <p:spPr>
          <a:xfrm>
            <a:off x="9673577" y="2037081"/>
            <a:ext cx="0" cy="627209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3" name="Shape 111"/>
          <p:cNvSpPr/>
          <p:nvPr/>
        </p:nvSpPr>
        <p:spPr>
          <a:xfrm>
            <a:off x="9673577" y="2037081"/>
            <a:ext cx="38805" cy="79375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4" name="Shape 112"/>
          <p:cNvSpPr/>
          <p:nvPr/>
        </p:nvSpPr>
        <p:spPr>
          <a:xfrm>
            <a:off x="9673577" y="2037081"/>
            <a:ext cx="373653" cy="50143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5" name="Shape 113"/>
          <p:cNvSpPr/>
          <p:nvPr/>
        </p:nvSpPr>
        <p:spPr>
          <a:xfrm>
            <a:off x="9642028" y="2664289"/>
            <a:ext cx="70353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6" name="Shape 114"/>
          <p:cNvSpPr/>
          <p:nvPr/>
        </p:nvSpPr>
        <p:spPr>
          <a:xfrm>
            <a:off x="9642028" y="2664289"/>
            <a:ext cx="405201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7" name="Shape 115"/>
          <p:cNvSpPr/>
          <p:nvPr/>
        </p:nvSpPr>
        <p:spPr>
          <a:xfrm>
            <a:off x="9945327" y="3713560"/>
            <a:ext cx="482849" cy="40659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8" name="Shape 116"/>
          <p:cNvSpPr/>
          <p:nvPr/>
        </p:nvSpPr>
        <p:spPr>
          <a:xfrm>
            <a:off x="7488952" y="1894157"/>
            <a:ext cx="620348" cy="72474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9" name="Shape 117"/>
          <p:cNvSpPr/>
          <p:nvPr/>
        </p:nvSpPr>
        <p:spPr>
          <a:xfrm>
            <a:off x="8767957" y="3251368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0" name="Shape 118"/>
          <p:cNvSpPr/>
          <p:nvPr/>
        </p:nvSpPr>
        <p:spPr>
          <a:xfrm>
            <a:off x="9712382" y="2116456"/>
            <a:ext cx="334847" cy="42206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1" name="Shape 119"/>
          <p:cNvSpPr/>
          <p:nvPr/>
        </p:nvSpPr>
        <p:spPr>
          <a:xfrm>
            <a:off x="9712382" y="2116456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2" name="Shape 120"/>
          <p:cNvSpPr/>
          <p:nvPr/>
        </p:nvSpPr>
        <p:spPr>
          <a:xfrm>
            <a:off x="9852247" y="423503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3" name="Shape 121"/>
          <p:cNvSpPr/>
          <p:nvPr/>
        </p:nvSpPr>
        <p:spPr>
          <a:xfrm>
            <a:off x="7194207" y="2261381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4" name="Shape 122"/>
          <p:cNvSpPr/>
          <p:nvPr/>
        </p:nvSpPr>
        <p:spPr>
          <a:xfrm>
            <a:off x="7556554" y="462122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5" name="Shape 123"/>
          <p:cNvSpPr/>
          <p:nvPr/>
        </p:nvSpPr>
        <p:spPr>
          <a:xfrm>
            <a:off x="10004297" y="165457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6" name="Shape 124"/>
          <p:cNvSpPr/>
          <p:nvPr/>
        </p:nvSpPr>
        <p:spPr>
          <a:xfrm>
            <a:off x="9477486" y="2269455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7" name="Shape 125"/>
          <p:cNvSpPr/>
          <p:nvPr/>
        </p:nvSpPr>
        <p:spPr>
          <a:xfrm>
            <a:off x="7681105" y="478837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8" name="Shape 126"/>
          <p:cNvSpPr/>
          <p:nvPr/>
        </p:nvSpPr>
        <p:spPr>
          <a:xfrm>
            <a:off x="9125108" y="3716124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9" name="Shape 127"/>
          <p:cNvSpPr/>
          <p:nvPr/>
        </p:nvSpPr>
        <p:spPr>
          <a:xfrm>
            <a:off x="11224522" y="4316539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0" name="Shape 128"/>
          <p:cNvSpPr/>
          <p:nvPr/>
        </p:nvSpPr>
        <p:spPr>
          <a:xfrm>
            <a:off x="10734377" y="2829741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1" name="Shape 129"/>
          <p:cNvSpPr/>
          <p:nvPr/>
        </p:nvSpPr>
        <p:spPr>
          <a:xfrm>
            <a:off x="8699664" y="261069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2" name="Shape 130"/>
          <p:cNvSpPr/>
          <p:nvPr/>
        </p:nvSpPr>
        <p:spPr>
          <a:xfrm>
            <a:off x="9465341" y="5279044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3" name="Shape 131"/>
          <p:cNvSpPr/>
          <p:nvPr/>
        </p:nvSpPr>
        <p:spPr>
          <a:xfrm>
            <a:off x="9291443" y="4992514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4" name="Shape 132"/>
          <p:cNvSpPr/>
          <p:nvPr/>
        </p:nvSpPr>
        <p:spPr>
          <a:xfrm>
            <a:off x="10212952" y="4585475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5" name="Shape 133"/>
          <p:cNvSpPr/>
          <p:nvPr/>
        </p:nvSpPr>
        <p:spPr>
          <a:xfrm>
            <a:off x="10139886" y="203337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6" name="Shape 134"/>
          <p:cNvSpPr/>
          <p:nvPr/>
        </p:nvSpPr>
        <p:spPr>
          <a:xfrm>
            <a:off x="9292245" y="346771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7" name="Shape 135"/>
          <p:cNvSpPr/>
          <p:nvPr/>
        </p:nvSpPr>
        <p:spPr>
          <a:xfrm>
            <a:off x="10694999" y="1831485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8" name="Shape 136"/>
          <p:cNvSpPr/>
          <p:nvPr/>
        </p:nvSpPr>
        <p:spPr>
          <a:xfrm>
            <a:off x="10278187" y="82672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9" name="Shape 137"/>
          <p:cNvSpPr/>
          <p:nvPr/>
        </p:nvSpPr>
        <p:spPr>
          <a:xfrm>
            <a:off x="7766812" y="450252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0" name="Shape 138"/>
          <p:cNvSpPr/>
          <p:nvPr/>
        </p:nvSpPr>
        <p:spPr>
          <a:xfrm>
            <a:off x="7175835" y="5281293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1" name="Shape 139"/>
          <p:cNvSpPr/>
          <p:nvPr/>
        </p:nvSpPr>
        <p:spPr>
          <a:xfrm>
            <a:off x="6910272" y="3220873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2" name="Shape 140"/>
          <p:cNvSpPr/>
          <p:nvPr/>
        </p:nvSpPr>
        <p:spPr>
          <a:xfrm>
            <a:off x="10655086" y="4973353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3" name="Shape 141"/>
          <p:cNvSpPr/>
          <p:nvPr/>
        </p:nvSpPr>
        <p:spPr>
          <a:xfrm>
            <a:off x="10050359" y="2440537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4" name="Shape 142"/>
          <p:cNvSpPr/>
          <p:nvPr/>
        </p:nvSpPr>
        <p:spPr>
          <a:xfrm>
            <a:off x="10431040" y="140685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5" name="Shape 143"/>
          <p:cNvSpPr/>
          <p:nvPr/>
        </p:nvSpPr>
        <p:spPr>
          <a:xfrm>
            <a:off x="10532139" y="1756609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6" name="Shape 144"/>
          <p:cNvSpPr/>
          <p:nvPr/>
        </p:nvSpPr>
        <p:spPr>
          <a:xfrm>
            <a:off x="7438687" y="4241784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7" name="Shape 145"/>
          <p:cNvSpPr/>
          <p:nvPr/>
        </p:nvSpPr>
        <p:spPr>
          <a:xfrm>
            <a:off x="8960606" y="163184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8" name="Shape 146"/>
          <p:cNvSpPr/>
          <p:nvPr/>
        </p:nvSpPr>
        <p:spPr>
          <a:xfrm>
            <a:off x="8882958" y="1099474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9" name="Shape 147"/>
          <p:cNvSpPr/>
          <p:nvPr/>
        </p:nvSpPr>
        <p:spPr>
          <a:xfrm>
            <a:off x="9735717" y="287605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0" name="Shape 148"/>
          <p:cNvSpPr/>
          <p:nvPr/>
        </p:nvSpPr>
        <p:spPr>
          <a:xfrm>
            <a:off x="8438913" y="77225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1" name="Shape 149"/>
          <p:cNvSpPr/>
          <p:nvPr/>
        </p:nvSpPr>
        <p:spPr>
          <a:xfrm>
            <a:off x="7192526" y="4563743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2" name="Shape 150"/>
          <p:cNvSpPr/>
          <p:nvPr/>
        </p:nvSpPr>
        <p:spPr>
          <a:xfrm>
            <a:off x="9516521" y="459053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3" name="Shape 151"/>
          <p:cNvSpPr/>
          <p:nvPr/>
        </p:nvSpPr>
        <p:spPr>
          <a:xfrm>
            <a:off x="10350947" y="5075263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4" name="Shape 152"/>
          <p:cNvSpPr/>
          <p:nvPr/>
        </p:nvSpPr>
        <p:spPr>
          <a:xfrm>
            <a:off x="6945830" y="4340440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5" name="Shape 153"/>
          <p:cNvSpPr/>
          <p:nvPr/>
        </p:nvSpPr>
        <p:spPr>
          <a:xfrm>
            <a:off x="8266085" y="157624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6" name="Shape 154"/>
          <p:cNvSpPr/>
          <p:nvPr/>
        </p:nvSpPr>
        <p:spPr>
          <a:xfrm>
            <a:off x="7271779" y="2046513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7" name="Shape 155"/>
          <p:cNvSpPr/>
          <p:nvPr/>
        </p:nvSpPr>
        <p:spPr>
          <a:xfrm>
            <a:off x="9627857" y="1991361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8" name="Shape 156"/>
          <p:cNvSpPr/>
          <p:nvPr/>
        </p:nvSpPr>
        <p:spPr>
          <a:xfrm>
            <a:off x="7469395" y="476575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9" name="Shape 157"/>
          <p:cNvSpPr/>
          <p:nvPr/>
        </p:nvSpPr>
        <p:spPr>
          <a:xfrm>
            <a:off x="9596308" y="2618569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0" name="Shape 158"/>
          <p:cNvSpPr/>
          <p:nvPr/>
        </p:nvSpPr>
        <p:spPr>
          <a:xfrm>
            <a:off x="7813676" y="376368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1" name="Shape 159"/>
          <p:cNvSpPr/>
          <p:nvPr/>
        </p:nvSpPr>
        <p:spPr>
          <a:xfrm>
            <a:off x="8611436" y="1664701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2" name="Shape 160"/>
          <p:cNvSpPr/>
          <p:nvPr/>
        </p:nvSpPr>
        <p:spPr>
          <a:xfrm>
            <a:off x="9899607" y="3667840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3" name="Shape 161"/>
          <p:cNvSpPr/>
          <p:nvPr/>
        </p:nvSpPr>
        <p:spPr>
          <a:xfrm>
            <a:off x="7443232" y="1848437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4" name="Shape 162"/>
          <p:cNvSpPr/>
          <p:nvPr/>
        </p:nvSpPr>
        <p:spPr>
          <a:xfrm>
            <a:off x="8722237" y="320564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5" name="Shape 163"/>
          <p:cNvSpPr/>
          <p:nvPr/>
        </p:nvSpPr>
        <p:spPr>
          <a:xfrm>
            <a:off x="9666662" y="207073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6" name="Shape 164"/>
          <p:cNvSpPr/>
          <p:nvPr/>
        </p:nvSpPr>
        <p:spPr>
          <a:xfrm>
            <a:off x="10001509" y="249279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7" name="Shape 165"/>
          <p:cNvSpPr/>
          <p:nvPr/>
        </p:nvSpPr>
        <p:spPr>
          <a:xfrm>
            <a:off x="9286783" y="157962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8" name="Shape 166"/>
          <p:cNvSpPr/>
          <p:nvPr/>
        </p:nvSpPr>
        <p:spPr>
          <a:xfrm>
            <a:off x="10382457" y="4074437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9" name="Shape 167"/>
          <p:cNvSpPr/>
          <p:nvPr/>
        </p:nvSpPr>
        <p:spPr>
          <a:xfrm>
            <a:off x="8063580" y="2573177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0" name="Shape 168"/>
          <p:cNvSpPr/>
          <p:nvPr/>
        </p:nvSpPr>
        <p:spPr>
          <a:xfrm>
            <a:off x="0" y="284560"/>
            <a:ext cx="6309360" cy="6858000"/>
          </a:xfrm>
          <a:prstGeom prst="rect">
            <a:avLst/>
          </a:prstGeom>
          <a:solidFill>
            <a:srgbClr val="07131F"/>
          </a:solidFill>
          <a:ln w="12700">
            <a:solidFill>
              <a:srgbClr val="07131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1" name="Text 169"/>
          <p:cNvSpPr/>
          <p:nvPr/>
        </p:nvSpPr>
        <p:spPr>
          <a:xfrm>
            <a:off x="713232" y="1051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D9FF"/>
                </a:solidFill>
              </a:rPr>
              <a:t>DENSISCOPE</a:t>
            </a:r>
            <a:endParaRPr lang="en-US" sz="1300" dirty="0"/>
          </a:p>
        </p:txBody>
      </p:sp>
      <p:sp>
        <p:nvSpPr>
          <p:cNvPr id="172" name="Text 170"/>
          <p:cNvSpPr/>
          <p:nvPr/>
        </p:nvSpPr>
        <p:spPr>
          <a:xfrm>
            <a:off x="713232" y="160020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AFE"/>
                </a:solidFill>
              </a:rPr>
              <a:t>Densest Subgraph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6FAFE"/>
                </a:solidFill>
              </a:rPr>
              <a:t>Discovery at Scale</a:t>
            </a:r>
            <a:endParaRPr lang="en-US" sz="3100" dirty="0"/>
          </a:p>
        </p:txBody>
      </p:sp>
      <p:sp>
        <p:nvSpPr>
          <p:cNvPr id="173" name="Text 171"/>
          <p:cNvSpPr/>
          <p:nvPr/>
        </p:nvSpPr>
        <p:spPr>
          <a:xfrm>
            <a:off x="731520" y="32461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8E5EF"/>
                </a:solidFill>
              </a:rPr>
              <a:t>Approximation • Exact verification • Triangle density • Interactive visualization</a:t>
            </a:r>
            <a:endParaRPr lang="en-US" sz="1500" dirty="0"/>
          </a:p>
        </p:txBody>
      </p:sp>
      <p:sp>
        <p:nvSpPr>
          <p:cNvPr id="174" name="Shape 172"/>
          <p:cNvSpPr/>
          <p:nvPr/>
        </p:nvSpPr>
        <p:spPr>
          <a:xfrm>
            <a:off x="731520" y="4187952"/>
            <a:ext cx="1325880" cy="0"/>
          </a:xfrm>
          <a:prstGeom prst="line">
            <a:avLst/>
          </a:prstGeom>
          <a:noFill/>
          <a:ln w="38100">
            <a:solidFill>
              <a:srgbClr val="26D9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5" name="Text 173"/>
          <p:cNvSpPr/>
          <p:nvPr/>
        </p:nvSpPr>
        <p:spPr>
          <a:xfrm>
            <a:off x="731520" y="4434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Analysis &amp; Algorithms Project</a:t>
            </a:r>
            <a:endParaRPr lang="en-US" sz="1250" dirty="0"/>
          </a:p>
        </p:txBody>
      </p:sp>
      <p:sp>
        <p:nvSpPr>
          <p:cNvPr id="176" name="Text 174"/>
          <p:cNvSpPr/>
          <p:nvPr/>
        </p:nvSpPr>
        <p:spPr>
          <a:xfrm>
            <a:off x="731520" y="48280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8BD"/>
                </a:solidFill>
              </a:rPr>
              <a:t>5 collaboration networks  •  4 algorithms  •  up to 317,080 vertices</a:t>
            </a:r>
            <a:endParaRPr lang="en-US" sz="1150" dirty="0"/>
          </a:p>
        </p:txBody>
      </p:sp>
      <p:sp>
        <p:nvSpPr>
          <p:cNvPr id="178" name="Text 176"/>
          <p:cNvSpPr/>
          <p:nvPr/>
        </p:nvSpPr>
        <p:spPr>
          <a:xfrm>
            <a:off x="804672" y="56235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1947672" y="56235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Two notions of “dense”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8872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Edge density finds many connections per vertex. Triangle density rewards tightly interlocked triples.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6309360" y="1627632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932688" y="1856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D9FF"/>
                </a:solidFill>
              </a:rPr>
              <a:t>EDGE DENSITY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AFE"/>
                </a:solidFill>
              </a:rPr>
              <a:t>ρ(S) = |E(S)| / |V(S)|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32688" y="29077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8E5EF"/>
                </a:solidFill>
              </a:rPr>
              <a:t>Goal: find the induced subgraph with the most edges per selected vertex.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8367" y="4125492"/>
            <a:ext cx="0" cy="15345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2518367" y="4125492"/>
            <a:ext cx="459262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4785701" y="4375214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3750143" y="417960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3750143" y="4179605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2689642" y="4523413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2689642" y="4523413"/>
            <a:ext cx="488432" cy="61085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2689642" y="4523413"/>
            <a:ext cx="0" cy="12127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4848558" y="4877917"/>
            <a:ext cx="0" cy="1876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4848558" y="4877917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4848558" y="4877917"/>
            <a:ext cx="0" cy="28796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2635885" y="4750110"/>
            <a:ext cx="0" cy="13469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2635885" y="4750110"/>
            <a:ext cx="542189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2635885" y="4750110"/>
            <a:ext cx="0" cy="3234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3904220" y="3825640"/>
            <a:ext cx="619986" cy="217451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3904220" y="3825640"/>
            <a:ext cx="0" cy="24626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4657567" y="4896678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4524206" y="4043091"/>
            <a:ext cx="0" cy="277638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24206" y="4043091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2465158" y="4884800"/>
            <a:ext cx="0" cy="7795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2465158" y="4884800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2465158" y="4884800"/>
            <a:ext cx="0" cy="23657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2465158" y="4884800"/>
            <a:ext cx="0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Shape 31"/>
          <p:cNvSpPr/>
          <p:nvPr/>
        </p:nvSpPr>
        <p:spPr>
          <a:xfrm>
            <a:off x="1661925" y="4892595"/>
            <a:ext cx="265109" cy="228777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1661925" y="4892595"/>
            <a:ext cx="263399" cy="0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2452735" y="3835874"/>
            <a:ext cx="524894" cy="221984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2977629" y="4057858"/>
            <a:ext cx="387661" cy="14048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2977629" y="4057858"/>
            <a:ext cx="428995" cy="236212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8" name="Shape 36"/>
          <p:cNvSpPr/>
          <p:nvPr/>
        </p:nvSpPr>
        <p:spPr>
          <a:xfrm>
            <a:off x="3365289" y="4071907"/>
            <a:ext cx="41335" cy="222164"/>
          </a:xfrm>
          <a:prstGeom prst="line">
            <a:avLst/>
          </a:prstGeom>
          <a:noFill/>
          <a:ln w="8890">
            <a:solidFill>
              <a:srgbClr val="1E5C7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9" name="Shape 37"/>
          <p:cNvSpPr/>
          <p:nvPr/>
        </p:nvSpPr>
        <p:spPr>
          <a:xfrm>
            <a:off x="2472647" y="407977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0" name="Shape 38"/>
          <p:cNvSpPr/>
          <p:nvPr/>
        </p:nvSpPr>
        <p:spPr>
          <a:xfrm>
            <a:off x="4739981" y="4329494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3704423" y="413388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4848851" y="439901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Shape 41"/>
          <p:cNvSpPr/>
          <p:nvPr/>
        </p:nvSpPr>
        <p:spPr>
          <a:xfrm>
            <a:off x="2643922" y="4477693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4" name="Shape 42"/>
          <p:cNvSpPr/>
          <p:nvPr/>
        </p:nvSpPr>
        <p:spPr>
          <a:xfrm>
            <a:off x="4802838" y="4832197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5" name="Shape 43"/>
          <p:cNvSpPr/>
          <p:nvPr/>
        </p:nvSpPr>
        <p:spPr>
          <a:xfrm>
            <a:off x="2590165" y="4704390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6" name="Shape 44"/>
          <p:cNvSpPr/>
          <p:nvPr/>
        </p:nvSpPr>
        <p:spPr>
          <a:xfrm>
            <a:off x="3858500" y="3779920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7" name="Shape 45"/>
          <p:cNvSpPr/>
          <p:nvPr/>
        </p:nvSpPr>
        <p:spPr>
          <a:xfrm>
            <a:off x="4611847" y="485095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8" name="Shape 46"/>
          <p:cNvSpPr/>
          <p:nvPr/>
        </p:nvSpPr>
        <p:spPr>
          <a:xfrm>
            <a:off x="4478486" y="3997371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Shape 47"/>
          <p:cNvSpPr/>
          <p:nvPr/>
        </p:nvSpPr>
        <p:spPr>
          <a:xfrm>
            <a:off x="2110929" y="4233224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0" name="Shape 48"/>
          <p:cNvSpPr/>
          <p:nvPr/>
        </p:nvSpPr>
        <p:spPr>
          <a:xfrm>
            <a:off x="4386007" y="4689430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1" name="Shape 49"/>
          <p:cNvSpPr/>
          <p:nvPr/>
        </p:nvSpPr>
        <p:spPr>
          <a:xfrm>
            <a:off x="4241030" y="4275009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2" name="Shape 50"/>
          <p:cNvSpPr/>
          <p:nvPr/>
        </p:nvSpPr>
        <p:spPr>
          <a:xfrm>
            <a:off x="2419438" y="4839080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3" name="Shape 51"/>
          <p:cNvSpPr/>
          <p:nvPr/>
        </p:nvSpPr>
        <p:spPr>
          <a:xfrm>
            <a:off x="1616205" y="4846875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4" name="Shape 52"/>
          <p:cNvSpPr/>
          <p:nvPr/>
        </p:nvSpPr>
        <p:spPr>
          <a:xfrm>
            <a:off x="3132354" y="4538778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5" name="Shape 53"/>
          <p:cNvSpPr/>
          <p:nvPr/>
        </p:nvSpPr>
        <p:spPr>
          <a:xfrm>
            <a:off x="2274912" y="4598964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6" name="Shape 54"/>
          <p:cNvSpPr/>
          <p:nvPr/>
        </p:nvSpPr>
        <p:spPr>
          <a:xfrm>
            <a:off x="1320668" y="432476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7" name="Shape 55"/>
          <p:cNvSpPr/>
          <p:nvPr/>
        </p:nvSpPr>
        <p:spPr>
          <a:xfrm>
            <a:off x="2407015" y="3790154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8" name="Shape 56"/>
          <p:cNvSpPr/>
          <p:nvPr/>
        </p:nvSpPr>
        <p:spPr>
          <a:xfrm>
            <a:off x="2931909" y="4012138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9" name="Shape 57"/>
          <p:cNvSpPr/>
          <p:nvPr/>
        </p:nvSpPr>
        <p:spPr>
          <a:xfrm>
            <a:off x="4753952" y="5120159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0" name="Shape 58"/>
          <p:cNvSpPr/>
          <p:nvPr/>
        </p:nvSpPr>
        <p:spPr>
          <a:xfrm>
            <a:off x="3319569" y="4026187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1" name="Shape 59"/>
          <p:cNvSpPr/>
          <p:nvPr/>
        </p:nvSpPr>
        <p:spPr>
          <a:xfrm>
            <a:off x="1881314" y="5075652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2" name="Shape 60"/>
          <p:cNvSpPr/>
          <p:nvPr/>
        </p:nvSpPr>
        <p:spPr>
          <a:xfrm>
            <a:off x="1879604" y="4736737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3" name="Shape 61"/>
          <p:cNvSpPr/>
          <p:nvPr/>
        </p:nvSpPr>
        <p:spPr>
          <a:xfrm>
            <a:off x="3360904" y="4248351"/>
            <a:ext cx="91440" cy="91440"/>
          </a:xfrm>
          <a:prstGeom prst="ellipse">
            <a:avLst/>
          </a:prstGeom>
          <a:solidFill>
            <a:srgbClr val="26D9FF"/>
          </a:solidFill>
          <a:ln w="6350">
            <a:solidFill>
              <a:srgbClr val="B6F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4" name="Shape 62"/>
          <p:cNvSpPr/>
          <p:nvPr/>
        </p:nvSpPr>
        <p:spPr>
          <a:xfrm>
            <a:off x="4141356" y="3795406"/>
            <a:ext cx="91440" cy="91440"/>
          </a:xfrm>
          <a:prstGeom prst="ellipse">
            <a:avLst/>
          </a:prstGeom>
          <a:solidFill>
            <a:srgbClr val="4A7188">
              <a:alpha val="85000"/>
            </a:srgbClr>
          </a:solidFill>
          <a:ln w="6350">
            <a:solidFill>
              <a:srgbClr val="7B9BA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5" name="Text 63"/>
          <p:cNvSpPr/>
          <p:nvPr/>
        </p:nvSpPr>
        <p:spPr>
          <a:xfrm>
            <a:off x="6583680" y="1856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</a:rPr>
              <a:t>TRIANGLE DENSITY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5836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AFE"/>
                </a:solidFill>
              </a:rPr>
              <a:t>τ(S) = T(S) / |V(S)|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6583680" y="29077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8E5EF"/>
                </a:solidFill>
              </a:rPr>
              <a:t>Goal: find the subgraph with the most closed 3-way relationships per vertex.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223760" y="4114800"/>
            <a:ext cx="1417320" cy="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9" name="Shape 67"/>
          <p:cNvSpPr/>
          <p:nvPr/>
        </p:nvSpPr>
        <p:spPr>
          <a:xfrm>
            <a:off x="8641080" y="3657600"/>
            <a:ext cx="1234440" cy="64008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0" name="Shape 68"/>
          <p:cNvSpPr/>
          <p:nvPr/>
        </p:nvSpPr>
        <p:spPr>
          <a:xfrm>
            <a:off x="7223760" y="4114800"/>
            <a:ext cx="2651760" cy="18288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1" name="Shape 69"/>
          <p:cNvSpPr/>
          <p:nvPr/>
        </p:nvSpPr>
        <p:spPr>
          <a:xfrm>
            <a:off x="7223760" y="4114800"/>
            <a:ext cx="731520" cy="100584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2" name="Shape 70"/>
          <p:cNvSpPr/>
          <p:nvPr/>
        </p:nvSpPr>
        <p:spPr>
          <a:xfrm>
            <a:off x="8641080" y="3657600"/>
            <a:ext cx="0" cy="146304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3" name="Shape 71"/>
          <p:cNvSpPr/>
          <p:nvPr/>
        </p:nvSpPr>
        <p:spPr>
          <a:xfrm>
            <a:off x="8641080" y="3657600"/>
            <a:ext cx="685800" cy="155448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4" name="Shape 72"/>
          <p:cNvSpPr/>
          <p:nvPr/>
        </p:nvSpPr>
        <p:spPr>
          <a:xfrm>
            <a:off x="9875520" y="4297680"/>
            <a:ext cx="0" cy="91440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5" name="Shape 73"/>
          <p:cNvSpPr/>
          <p:nvPr/>
        </p:nvSpPr>
        <p:spPr>
          <a:xfrm>
            <a:off x="7955280" y="5120640"/>
            <a:ext cx="1371600" cy="91440"/>
          </a:xfrm>
          <a:prstGeom prst="line">
            <a:avLst/>
          </a:prstGeom>
          <a:noFill/>
          <a:ln w="19050">
            <a:solidFill>
              <a:srgbClr val="2C6F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6" name="Shape 74"/>
          <p:cNvSpPr/>
          <p:nvPr/>
        </p:nvSpPr>
        <p:spPr>
          <a:xfrm>
            <a:off x="7141464" y="4032504"/>
            <a:ext cx="164592" cy="164592"/>
          </a:xfrm>
          <a:prstGeom prst="ellipse">
            <a:avLst/>
          </a:prstGeom>
          <a:solidFill>
            <a:srgbClr val="2DD4BF"/>
          </a:solidFill>
          <a:ln w="6350">
            <a:solidFill>
              <a:srgbClr val="F6F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7" name="Shape 75"/>
          <p:cNvSpPr/>
          <p:nvPr/>
        </p:nvSpPr>
        <p:spPr>
          <a:xfrm>
            <a:off x="8558784" y="3575304"/>
            <a:ext cx="164592" cy="164592"/>
          </a:xfrm>
          <a:prstGeom prst="ellipse">
            <a:avLst/>
          </a:prstGeom>
          <a:solidFill>
            <a:srgbClr val="2DD4BF"/>
          </a:solidFill>
          <a:ln w="6350">
            <a:solidFill>
              <a:srgbClr val="F6F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8" name="Shape 76"/>
          <p:cNvSpPr/>
          <p:nvPr/>
        </p:nvSpPr>
        <p:spPr>
          <a:xfrm>
            <a:off x="9793224" y="4215384"/>
            <a:ext cx="164592" cy="164592"/>
          </a:xfrm>
          <a:prstGeom prst="ellipse">
            <a:avLst/>
          </a:prstGeom>
          <a:solidFill>
            <a:srgbClr val="2DD4BF"/>
          </a:solidFill>
          <a:ln w="6350">
            <a:solidFill>
              <a:srgbClr val="F6F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9" name="Shape 77"/>
          <p:cNvSpPr/>
          <p:nvPr/>
        </p:nvSpPr>
        <p:spPr>
          <a:xfrm>
            <a:off x="7872984" y="5038344"/>
            <a:ext cx="164592" cy="164592"/>
          </a:xfrm>
          <a:prstGeom prst="ellipse">
            <a:avLst/>
          </a:prstGeom>
          <a:solidFill>
            <a:srgbClr val="5D8C86"/>
          </a:solidFill>
          <a:ln w="6350">
            <a:solidFill>
              <a:srgbClr val="F6F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0" name="Shape 78"/>
          <p:cNvSpPr/>
          <p:nvPr/>
        </p:nvSpPr>
        <p:spPr>
          <a:xfrm>
            <a:off x="9244584" y="5129784"/>
            <a:ext cx="164592" cy="164592"/>
          </a:xfrm>
          <a:prstGeom prst="ellipse">
            <a:avLst/>
          </a:prstGeom>
          <a:solidFill>
            <a:srgbClr val="5D8C86"/>
          </a:solidFill>
          <a:ln w="6350">
            <a:solidFill>
              <a:srgbClr val="F6F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1" name="Text 79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DensiScope evaluates both objectives because they can return different communities on the same graph.</a:t>
            </a:r>
            <a:endParaRPr lang="en-US" sz="850" dirty="0"/>
          </a:p>
        </p:txBody>
      </p:sp>
      <p:sp>
        <p:nvSpPr>
          <p:cNvPr id="8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What we built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8872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A memory-aware pipeline that goes from raw graph files to verified results, scalability analysis and live visualization.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1088136" y="2331720"/>
            <a:ext cx="512064" cy="512064"/>
          </a:xfrm>
          <a:prstGeom prst="ellipse">
            <a:avLst/>
          </a:prstGeom>
          <a:solidFill>
            <a:srgbClr val="26D9FF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088136" y="245973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31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E"/>
                </a:solidFill>
              </a:rPr>
              <a:t>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8FA8BD"/>
                </a:solidFill>
              </a:rPr>
              <a:t>Matrix Market / edge lists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139696" y="3346704"/>
            <a:ext cx="274320" cy="0"/>
          </a:xfrm>
          <a:prstGeom prst="line">
            <a:avLst/>
          </a:prstGeom>
          <a:noFill/>
          <a:ln w="22860">
            <a:solidFill>
              <a:srgbClr val="4D7C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2468880" y="21031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2990088" y="2331720"/>
            <a:ext cx="512064" cy="512064"/>
          </a:xfrm>
          <a:prstGeom prst="ellipse">
            <a:avLst/>
          </a:prstGeom>
          <a:solidFill>
            <a:srgbClr val="26D9FF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2990088" y="245973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31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30632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E"/>
                </a:solidFill>
              </a:rPr>
              <a:t>Compress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356616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8FA8BD"/>
                </a:solidFill>
              </a:rPr>
              <a:t>CSR sparse graph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041648" y="3346704"/>
            <a:ext cx="274320" cy="0"/>
          </a:xfrm>
          <a:prstGeom prst="line">
            <a:avLst/>
          </a:prstGeom>
          <a:noFill/>
          <a:ln w="22860">
            <a:solidFill>
              <a:srgbClr val="4D7C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4370832" y="21031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4892040" y="2331720"/>
            <a:ext cx="512064" cy="512064"/>
          </a:xfrm>
          <a:prstGeom prst="ellipse">
            <a:avLst/>
          </a:prstGeom>
          <a:solidFill>
            <a:srgbClr val="2DD4BF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4892040" y="245973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31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30632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E"/>
                </a:solidFill>
              </a:rPr>
              <a:t>Solve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35424" y="356616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8FA8BD"/>
                </a:solidFill>
              </a:rPr>
              <a:t>4 algorithms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943600" y="3346704"/>
            <a:ext cx="274320" cy="0"/>
          </a:xfrm>
          <a:prstGeom prst="line">
            <a:avLst/>
          </a:prstGeom>
          <a:noFill/>
          <a:ln w="22860">
            <a:solidFill>
              <a:srgbClr val="4D7C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6272784" y="21031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6793992" y="2331720"/>
            <a:ext cx="512064" cy="512064"/>
          </a:xfrm>
          <a:prstGeom prst="ellipse">
            <a:avLst/>
          </a:prstGeom>
          <a:solidFill>
            <a:srgbClr val="2DD4BF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793992" y="245973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31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37376" y="30632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E"/>
                </a:solidFill>
              </a:rPr>
              <a:t>Verify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37376" y="356616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8FA8BD"/>
                </a:solidFill>
              </a:rPr>
              <a:t>Independent metrics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7845552" y="3346704"/>
            <a:ext cx="274320" cy="0"/>
          </a:xfrm>
          <a:prstGeom prst="line">
            <a:avLst/>
          </a:prstGeom>
          <a:noFill/>
          <a:ln w="22860">
            <a:solidFill>
              <a:srgbClr val="4D7C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8174736" y="21031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8695944" y="2331720"/>
            <a:ext cx="512064" cy="512064"/>
          </a:xfrm>
          <a:prstGeom prst="ellipse">
            <a:avLst/>
          </a:prstGeom>
          <a:solidFill>
            <a:srgbClr val="F6B73C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8695944" y="245973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31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39328" y="30632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E"/>
                </a:solidFill>
              </a:rPr>
              <a:t>Analyze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356616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8FA8BD"/>
                </a:solidFill>
              </a:rPr>
              <a:t>Runtime + quality + RAM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747504" y="3346704"/>
            <a:ext cx="274320" cy="0"/>
          </a:xfrm>
          <a:prstGeom prst="line">
            <a:avLst/>
          </a:prstGeom>
          <a:noFill/>
          <a:ln w="22860">
            <a:solidFill>
              <a:srgbClr val="4D7C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10076688" y="2103120"/>
            <a:ext cx="1554480" cy="2514600"/>
          </a:xfrm>
          <a:prstGeom prst="roundRect">
            <a:avLst>
              <a:gd name="adj" fmla="val 4706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10597896" y="2331720"/>
            <a:ext cx="512064" cy="512064"/>
          </a:xfrm>
          <a:prstGeom prst="ellipse">
            <a:avLst/>
          </a:prstGeom>
          <a:solidFill>
            <a:srgbClr val="F6B73C"/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10597896" y="245973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31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0" y="30632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E"/>
                </a:solidFill>
              </a:rPr>
              <a:t>Visualize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0" y="356616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8FA8BD"/>
                </a:solidFill>
              </a:rPr>
              <a:t>MP4 + dashboard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749808" y="4956048"/>
            <a:ext cx="10698480" cy="804672"/>
          </a:xfrm>
          <a:prstGeom prst="roundRect">
            <a:avLst>
              <a:gd name="adj" fmla="val 9091"/>
            </a:avLst>
          </a:prstGeom>
          <a:solidFill>
            <a:srgbClr val="0A2632"/>
          </a:solidFill>
          <a:ln w="12700">
            <a:solidFill>
              <a:srgbClr val="17475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Text 39"/>
          <p:cNvSpPr/>
          <p:nvPr/>
        </p:nvSpPr>
        <p:spPr>
          <a:xfrm>
            <a:off x="987552" y="5202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D9FF"/>
                </a:solidFill>
              </a:rPr>
              <a:t>Memory strategy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95728" y="5175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8E5EF"/>
                </a:solidFill>
              </a:rPr>
              <a:t>One dataset at a time  •  compact NumPy arrays  •  indexed heap  •  exact-safe reductions  •  structural certificates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All final results are independently verified and persisted to CSV / NPY outputs.</a:t>
            </a:r>
            <a:endParaRPr lang="en-US" sz="8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Four algorithms, four roles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8872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The project deliberately combines fast approximations with exact baselines and a higher-order objective.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2651760" cy="4315968"/>
          </a:xfrm>
          <a:prstGeom prst="roundRect">
            <a:avLst>
              <a:gd name="adj" fmla="val 2759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22960" y="1792224"/>
            <a:ext cx="384048" cy="384048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822960" y="1851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31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16736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E"/>
                </a:solidFill>
              </a:rPr>
              <a:t>Charikar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16736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26D9FF"/>
                </a:solidFill>
              </a:rPr>
              <a:t>FAST APPROXIMATION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23225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8E5EF"/>
                </a:solidFill>
              </a:rPr>
              <a:t>Peel the minimum-degree vertex and keep the best intermediate subgraph. Very fast and surprisingly accurate.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529584" y="1627632"/>
            <a:ext cx="2651760" cy="4315968"/>
          </a:xfrm>
          <a:prstGeom prst="roundRect">
            <a:avLst>
              <a:gd name="adj" fmla="val 2759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3694176" y="1792224"/>
            <a:ext cx="384048" cy="384048"/>
          </a:xfrm>
          <a:prstGeom prst="ellipse">
            <a:avLst/>
          </a:prstGeom>
          <a:solidFill>
            <a:srgbClr val="F6B73C"/>
          </a:solidFill>
          <a:ln w="12700">
            <a:solidFill>
              <a:srgbClr val="F6B7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694176" y="1851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31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87952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E"/>
                </a:solidFill>
              </a:rPr>
              <a:t>Greedy++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87952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6B73C"/>
                </a:solidFill>
              </a:rPr>
              <a:t>ITERATIVE REFINEMENT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694176" y="2432304"/>
            <a:ext cx="23225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8E5EF"/>
                </a:solidFill>
              </a:rPr>
              <a:t>Repeat peeling with persistent vertex loads. Can repair Charikar misses, but repeated rounds are more expensive.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400800" y="1627632"/>
            <a:ext cx="2651760" cy="4315968"/>
          </a:xfrm>
          <a:prstGeom prst="roundRect">
            <a:avLst>
              <a:gd name="adj" fmla="val 2759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6565392" y="1792224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565392" y="1851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31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59168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E"/>
                </a:solidFill>
              </a:rPr>
              <a:t>Goldberg Exact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059168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2DD4BF"/>
                </a:solidFill>
              </a:rPr>
              <a:t>EDGE-DENSITY GROUND TRUTH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565392" y="2432304"/>
            <a:ext cx="23225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8E5EF"/>
                </a:solidFill>
              </a:rPr>
              <a:t>Binary search over density + max-flow/min-cut decision. Used to measure approximation quality.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9272016" y="1627632"/>
            <a:ext cx="2240280" cy="4315968"/>
          </a:xfrm>
          <a:prstGeom prst="roundRect">
            <a:avLst>
              <a:gd name="adj" fmla="val 3265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9436608" y="1792224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9436608" y="1851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31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30384" y="1792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E"/>
                </a:solidFill>
              </a:rPr>
              <a:t>Triangle Exact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930384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6B6B"/>
                </a:solidFill>
              </a:rPr>
              <a:t>HIGHER-ORDER EXACT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436608" y="2432304"/>
            <a:ext cx="191109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8E5EF"/>
                </a:solidFill>
              </a:rPr>
              <a:t>Maximizes triangles per vertex using flow, triangle cores and exact certificates.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Greedy++ uses 10 rounds in the experiments. Goldberg is the exact reference for ordinary edge density.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DATASETS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Five collaboration networks — 836× span in vertices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964266"/>
            <a:ext cx="10607040" cy="718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The benchmark grows from hundreds of nodes to a 317k-node DBLP graph, while all graphs stay sparse in CSR format.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7498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6" name="Image 0" descr="/mnt/data/densiscope_assets/dataset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5514"/>
            <a:ext cx="7040880" cy="37133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600200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8622792" y="176479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6D9FF"/>
                </a:solidFill>
              </a:rPr>
              <a:t>379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22792" y="22037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smallest graph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22792" y="23134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FA8BD"/>
                </a:solidFill>
              </a:rPr>
              <a:t>ca-netscience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8458200" y="2852928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Text 9"/>
          <p:cNvSpPr/>
          <p:nvPr/>
        </p:nvSpPr>
        <p:spPr>
          <a:xfrm>
            <a:off x="8622792" y="30175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B73C"/>
                </a:solidFill>
              </a:rPr>
              <a:t>317,080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622792" y="345643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largest graph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22792" y="35661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FA8BD"/>
                </a:solidFill>
              </a:rPr>
              <a:t>ca-dblp-2012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8458200" y="4105656"/>
            <a:ext cx="2926080" cy="1078992"/>
          </a:xfrm>
          <a:prstGeom prst="roundRect">
            <a:avLst>
              <a:gd name="adj" fmla="val 678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3"/>
          <p:cNvSpPr/>
          <p:nvPr/>
        </p:nvSpPr>
        <p:spPr>
          <a:xfrm>
            <a:off x="8622792" y="42702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1,049,866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622792" y="470916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largest edge count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22792" y="4818888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FA8BD"/>
                </a:solidFill>
              </a:rPr>
              <a:t>ca-dblp-2012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Actual sizes are taken from the processed datasets used in the notebook.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Greedy++ fixes the two Charikar misses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941832"/>
            <a:ext cx="10607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Approximation quality is measured against Goldberg’s exact optimum on each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78181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6" name="Image 0" descr="/mnt/data/densiscope_assets/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49851"/>
            <a:ext cx="7315200" cy="38520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16459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89611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AFE"/>
                </a:solidFill>
              </a:rPr>
              <a:t>ca-CSphd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6B73C"/>
                </a:solidFill>
              </a:rPr>
              <a:t>83.3% → 100%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961120" y="28529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Greedy++ raises density from 1.25 to the exact 1.50.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732520" y="3822192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Text 9"/>
          <p:cNvSpPr/>
          <p:nvPr/>
        </p:nvSpPr>
        <p:spPr>
          <a:xfrm>
            <a:off x="896112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AFE"/>
                </a:solidFill>
              </a:rPr>
              <a:t>ca-dblp-2012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0" y="4507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DD4BF"/>
                </a:solidFill>
              </a:rPr>
              <a:t>99.885% → 100%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961120" y="5029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Greedy++ improves 56.500000 to the exact 56.565217.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On ca-netscience, ca-GrQc and ca-HepTh, Charikar already reached the exact edge-density optimum.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Quality comes at a runtime cost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97840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End-to-end runtime is shown on log-log axes; exact methods include the prerequisite Charikar lower-bound stage.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7863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6" name="Image 0" descr="/mnt/data/densiscope_assets/runtime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90" y="1700784"/>
            <a:ext cx="7287365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59952" y="16459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8924544" y="181051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6D9FF"/>
                </a:solidFill>
              </a:rPr>
              <a:t>6.19 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924544" y="224942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Charikar on DBLP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59952" y="2990088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8924544" y="31546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B73C"/>
                </a:solidFill>
              </a:rPr>
              <a:t>169.83 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924544" y="3593592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Greedy++ on DBLP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24544" y="376732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FA8BD"/>
                </a:solidFill>
              </a:rPr>
              <a:t>10 rounds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8759952" y="4334256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2"/>
          <p:cNvSpPr/>
          <p:nvPr/>
        </p:nvSpPr>
        <p:spPr>
          <a:xfrm>
            <a:off x="8924544" y="449884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7.70 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924544" y="493776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Goldberg E2E on DBLP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24544" y="5111496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8FA8BD"/>
                </a:solidFill>
              </a:rPr>
              <a:t>after safe reduction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8887968" y="5669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6B73C"/>
                </a:solidFill>
              </a:rPr>
              <a:t>≈27× slower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The largest gap is Greedy++: a very small density improvement costs repeated full peeling passes.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ENGINEERING BONUS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Exact-safe preprocessing makes exact search practical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A greedy lower bound gives a mathematically safe core threshold before Goldberg constructs any flow network.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378440" y="53035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6B73C">
              <a:alpha val="88000"/>
            </a:srgbClr>
          </a:solidFill>
          <a:ln w="10160">
            <a:solidFill>
              <a:srgbClr val="F6B7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10451592" y="5943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AFE"/>
                </a:solidFill>
              </a:rPr>
              <a:t>BONUS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8" name="Image 0" descr="/mnt/data/densiscope_assets/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74870"/>
            <a:ext cx="6080760" cy="32020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79792" y="1600200"/>
            <a:ext cx="3822192" cy="1920240"/>
          </a:xfrm>
          <a:prstGeom prst="roundRect">
            <a:avLst>
              <a:gd name="adj" fmla="val 3810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7754112" y="18470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D"/>
                </a:solidFill>
              </a:rPr>
              <a:t>DBLP BEFORE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54112" y="22128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AFE"/>
                </a:solidFill>
              </a:rPr>
              <a:t>317,080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754112" y="2706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D"/>
                </a:solidFill>
              </a:rPr>
              <a:t>vertices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17152" y="2468880"/>
            <a:ext cx="612648" cy="0"/>
          </a:xfrm>
          <a:prstGeom prst="line">
            <a:avLst/>
          </a:prstGeom>
          <a:noFill/>
          <a:ln w="22860">
            <a:solidFill>
              <a:srgbClr val="26D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1"/>
          <p:cNvSpPr/>
          <p:nvPr/>
        </p:nvSpPr>
        <p:spPr>
          <a:xfrm>
            <a:off x="9948672" y="22128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6D9FF"/>
                </a:solidFill>
              </a:rPr>
              <a:t>280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948672" y="27066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8FA8BD"/>
                </a:solidFill>
              </a:rPr>
              <a:t>safe-core vertices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479792" y="3822192"/>
            <a:ext cx="3822192" cy="1920240"/>
          </a:xfrm>
          <a:prstGeom prst="roundRect">
            <a:avLst>
              <a:gd name="adj" fmla="val 3810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7754112" y="4069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8BD"/>
                </a:solidFill>
              </a:rPr>
              <a:t>DBLP EDGES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54112" y="44348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6FAFE"/>
                </a:solidFill>
              </a:rPr>
              <a:t>1,049,866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308592" y="4645152"/>
            <a:ext cx="521208" cy="0"/>
          </a:xfrm>
          <a:prstGeom prst="line">
            <a:avLst/>
          </a:prstGeom>
          <a:noFill/>
          <a:ln w="22860">
            <a:solidFill>
              <a:srgbClr val="2DD4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7"/>
          <p:cNvSpPr/>
          <p:nvPr/>
        </p:nvSpPr>
        <p:spPr>
          <a:xfrm>
            <a:off x="9948672" y="4434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</a:rPr>
              <a:t>13,609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754112" y="507492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D8E5EF"/>
                </a:solidFill>
              </a:rPr>
              <a:t>98.70% of edges safely removed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DBLP node reduction: 99.91%. The exact optimum is preserved — this is not random sampling.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HIGHER-ORDER EXACTNESS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Triangle Exact avoids huge flow graphs when proof is enough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8872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The solver uses three exact modes: max-flow binary search, complete-core certificate, or provable upper-bound certificate.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FLOW MODE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6FAFE"/>
                </a:solidFill>
              </a:rPr>
              <a:t>ca-netscience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6FAFE"/>
                </a:solidFill>
              </a:rPr>
              <a:t>ca-CSphd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6FAFE"/>
                </a:solidFill>
              </a:rPr>
              <a:t>ca-GrQc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8E5EF"/>
                </a:solidFill>
              </a:rPr>
              <a:t>Binary search + exact triangle max-flow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D9FF"/>
                </a:solidFill>
              </a:rPr>
              <a:t>20 • 9 • 13 flow calls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COMPLETE-CORE 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FAFE"/>
                </a:solidFill>
              </a:rPr>
              <a:t>ca-HepTh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D4BF"/>
                </a:solidFill>
              </a:rPr>
              <a:t>K239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5EF"/>
                </a:solidFill>
              </a:rPr>
              <a:t>2,246,839 triangles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5EF"/>
                </a:solidFill>
              </a:rPr>
              <a:t>τ* = 9,401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</a:rPr>
              <a:t>0 flow calls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28432" y="182880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827532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B73C"/>
                </a:solidFill>
              </a:rPr>
              <a:t>UPPER-BOUND CERTIFICATE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2578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FAFE"/>
                </a:solidFill>
              </a:rPr>
              <a:t>ca-dblp-2012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3154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6B73C"/>
                </a:solidFill>
              </a:rPr>
              <a:t>216-node triangle core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5EF"/>
                </a:solidFill>
              </a:rPr>
              <a:t>Lower bound = upper bound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5EF"/>
                </a:solidFill>
              </a:rPr>
              <a:t>τ* = 2,109.333333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6B73C"/>
                </a:solidFill>
              </a:rPr>
              <a:t>0 flow calls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The largest triangle-density instances are solved exactly without constructing their full auxiliary flow networks.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DBLP proves the two objectives are genuinely different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8872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On the same 317,080-vertex network, edge density and triangle density prefer different communities.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983480" cy="4224528"/>
          </a:xfrm>
          <a:prstGeom prst="roundRect">
            <a:avLst>
              <a:gd name="adj" fmla="val 1732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1051560" y="1901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</a:rPr>
              <a:t>EDGE-DENSITY OPTIMUM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6FAFE"/>
                </a:solidFill>
              </a:rPr>
              <a:t>Goldberg Exact / Greedy++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2999232"/>
            <a:ext cx="128016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1216152" y="316382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115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6152" y="360273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vertices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2999232"/>
            <a:ext cx="128016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2679192" y="316382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6,505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79192" y="360273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edges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77640" y="2999232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4142232" y="3163824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</a:rPr>
              <a:t>56.565217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42232" y="360273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ρ*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461772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5EF"/>
                </a:solidFill>
              </a:rPr>
              <a:t>Optimizes direct connectivity per vertex.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4983480" cy="4224528"/>
          </a:xfrm>
          <a:prstGeom prst="roundRect">
            <a:avLst>
              <a:gd name="adj" fmla="val 1732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67512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6B73C"/>
                </a:solidFill>
              </a:rPr>
              <a:t>TRIANGLE-DENSITY OPTIMUM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6FAFE"/>
                </a:solidFill>
              </a:rPr>
              <a:t>Exact Triangle Density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75120" y="2999232"/>
            <a:ext cx="128016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839712" y="316382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B73C"/>
                </a:solidFill>
              </a:rPr>
              <a:t>114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39712" y="360273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vertices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2999232"/>
            <a:ext cx="128016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8302752" y="316382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B73C"/>
                </a:solidFill>
              </a:rPr>
              <a:t>6,441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02752" y="360273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edges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01200" y="2999232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0D1F2D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9765792" y="3163824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B73C"/>
                </a:solidFill>
              </a:rPr>
              <a:t>2,109.333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765792" y="360273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AFE"/>
                </a:solidFill>
              </a:rPr>
              <a:t>τ*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461772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5EF"/>
                </a:solidFill>
              </a:rPr>
              <a:t>Optimizes closed 3-way structure per vertex.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06240" y="57881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D9FF"/>
                </a:solidFill>
              </a:rPr>
              <a:t>1 vertex difference • 64 edges difference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This is the clearest evidence that higher-order density is not just a re-labeling of ordinary edge density.</a:t>
            </a:r>
            <a:endParaRPr lang="en-US" sz="8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Interactive DensiScope Explorer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Select any dataset and algorithm, then inspect the returned dense community, metrics, exactness and runtime.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378440" y="53035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6B73C">
              <a:alpha val="88000"/>
            </a:srgbClr>
          </a:solidFill>
          <a:ln w="10160">
            <a:solidFill>
              <a:srgbClr val="F6B7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10451592" y="5943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AFE"/>
                </a:solidFill>
              </a:rPr>
              <a:t>BONUS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82296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8" name="Image 0" descr="/mnt/data/Screenshot 2026-09-05 at 4.13.58 AM.png"/>
          <p:cNvPicPr>
            <a:picLocks noChangeAspect="1"/>
          </p:cNvPicPr>
          <p:nvPr/>
        </p:nvPicPr>
        <p:blipFill>
          <a:blip r:embed="rId3"/>
          <a:srcRect l="2000" t="2000" r="9214" b="7000"/>
          <a:stretch/>
        </p:blipFill>
        <p:spPr>
          <a:xfrm>
            <a:off x="749808" y="1609344"/>
            <a:ext cx="7918704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98280" y="1572768"/>
            <a:ext cx="2468880" cy="4434840"/>
          </a:xfrm>
          <a:prstGeom prst="roundRect">
            <a:avLst>
              <a:gd name="adj" fmla="val 2963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  <a:effectLst>
            <a:outerShdw blurRad="19050" dist="1016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Shape 7"/>
          <p:cNvSpPr/>
          <p:nvPr/>
        </p:nvSpPr>
        <p:spPr>
          <a:xfrm>
            <a:off x="9308592" y="1865376"/>
            <a:ext cx="164592" cy="164592"/>
          </a:xfrm>
          <a:prstGeom prst="ellipse">
            <a:avLst/>
          </a:prstGeom>
          <a:solidFill>
            <a:srgbClr val="26D9F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9582912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AFE"/>
                </a:solidFill>
              </a:rPr>
              <a:t>Dropdowns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82912" y="211226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8BD"/>
                </a:solidFill>
              </a:rPr>
              <a:t>dataset + algorithm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308592" y="2825496"/>
            <a:ext cx="164592" cy="164592"/>
          </a:xfrm>
          <a:prstGeom prst="ellipse">
            <a:avLst/>
          </a:prstGeom>
          <a:solidFill>
            <a:srgbClr val="26D9F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1"/>
          <p:cNvSpPr/>
          <p:nvPr/>
        </p:nvSpPr>
        <p:spPr>
          <a:xfrm>
            <a:off x="9582912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AFE"/>
                </a:solidFill>
              </a:rPr>
              <a:t>Exact metrics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582912" y="307238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8BD"/>
                </a:solidFill>
              </a:rPr>
              <a:t>full unsampled graph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308592" y="3785616"/>
            <a:ext cx="164592" cy="16459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9582912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AFE"/>
                </a:solidFill>
              </a:rPr>
              <a:t>Readable drawing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582912" y="403250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8BD"/>
                </a:solidFill>
              </a:rPr>
              <a:t>edge sampling only for display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308592" y="4745736"/>
            <a:ext cx="164592" cy="16459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7"/>
          <p:cNvSpPr/>
          <p:nvPr/>
        </p:nvSpPr>
        <p:spPr>
          <a:xfrm>
            <a:off x="9582912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AFE"/>
                </a:solidFill>
              </a:rPr>
              <a:t>Solver mode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582912" y="499262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8BD"/>
                </a:solidFill>
              </a:rPr>
              <a:t>shows max-flow / certificate path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" y="619963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8FA8BD"/>
                </a:solidFill>
              </a:rPr>
              <a:t>Screenshot shown: ca-dblp-2012 + Goldberg Exact (115 vertices, 6,505 edges, ρ*=56.565217).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What DensiScope demonstrates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8872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8BD"/>
                </a:solidFill>
              </a:rPr>
              <a:t>The project is not only an algorithm comparison — it is an end-to-end strategy for making exact graph analysis scalable.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645920"/>
            <a:ext cx="5212080" cy="1124712"/>
          </a:xfrm>
          <a:prstGeom prst="roundRect">
            <a:avLst>
              <a:gd name="adj" fmla="val 6504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896112" y="1901952"/>
            <a:ext cx="256032" cy="256032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307592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Fast baseline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07592" y="2167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Charikar is extremely fast and often exact.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645920"/>
            <a:ext cx="5212080" cy="1124712"/>
          </a:xfrm>
          <a:prstGeom prst="roundRect">
            <a:avLst>
              <a:gd name="adj" fmla="val 6504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6473952" y="1901952"/>
            <a:ext cx="256032" cy="256032"/>
          </a:xfrm>
          <a:prstGeom prst="ellipse">
            <a:avLst/>
          </a:prstGeom>
          <a:solidFill>
            <a:srgbClr val="F6B73C"/>
          </a:solidFill>
          <a:ln w="12700">
            <a:solidFill>
              <a:srgbClr val="F6B7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6885432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Quality refinement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85432" y="2167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Greedy++ fixes the two Charikar misses.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063240"/>
            <a:ext cx="5212080" cy="1124712"/>
          </a:xfrm>
          <a:prstGeom prst="roundRect">
            <a:avLst>
              <a:gd name="adj" fmla="val 6504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896112" y="3319272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1307592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Exact verification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07592" y="3584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Goldberg establishes ground truth for edge density.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91072" y="3063240"/>
            <a:ext cx="5212080" cy="1124712"/>
          </a:xfrm>
          <a:prstGeom prst="roundRect">
            <a:avLst>
              <a:gd name="adj" fmla="val 6504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6473952" y="3319272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85432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Higher-order structure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85432" y="3584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Triangle density can select a different community.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4480560"/>
            <a:ext cx="5212080" cy="1124712"/>
          </a:xfrm>
          <a:prstGeom prst="roundRect">
            <a:avLst>
              <a:gd name="adj" fmla="val 6504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896112" y="4736592"/>
            <a:ext cx="256032" cy="256032"/>
          </a:xfrm>
          <a:prstGeom prst="ellipse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1307592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Scalable exactness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07592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Safe reductions and certificates avoid giant flow graphs.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91072" y="4480560"/>
            <a:ext cx="5212080" cy="1124712"/>
          </a:xfrm>
          <a:prstGeom prst="roundRect">
            <a:avLst>
              <a:gd name="adj" fmla="val 6504"/>
            </a:avLst>
          </a:prstGeom>
          <a:solidFill>
            <a:srgbClr val="102838"/>
          </a:solidFill>
          <a:ln w="1270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6473952" y="4736592"/>
            <a:ext cx="256032" cy="256032"/>
          </a:xfrm>
          <a:prstGeom prst="ellipse">
            <a:avLst/>
          </a:prstGeom>
          <a:solidFill>
            <a:srgbClr val="26D9FF"/>
          </a:solidFill>
          <a:ln w="12700">
            <a:solidFill>
              <a:srgbClr val="26D9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885432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AFE"/>
                </a:solidFill>
              </a:rPr>
              <a:t>Presentation-ready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85432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EF"/>
                </a:solidFill>
              </a:rPr>
              <a:t>Live dashboard, MP4s, plots and reproducible outputs.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6053328"/>
            <a:ext cx="10378440" cy="0"/>
          </a:xfrm>
          <a:prstGeom prst="line">
            <a:avLst/>
          </a:prstGeom>
          <a:noFill/>
          <a:ln w="12700">
            <a:solidFill>
              <a:srgbClr val="17304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1234440" y="618134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D9FF"/>
                </a:solidFill>
              </a:rPr>
              <a:t>Fast approximation. Exact verification. Higher-order density. Scalable visualization.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D9FF"/>
                </a:solidFill>
              </a:rPr>
              <a:t>REFERENCE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AFE"/>
                </a:solidFill>
              </a:rPr>
              <a:t>Appendix — core benchmark results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6D9FF"/>
                </a:solidFill>
              </a:rPr>
              <a:t>Dataset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331720" y="1325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|V|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749040" y="13258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|E|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38928" y="13258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Charikar 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37960" y="13258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Greedy++ 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09560" y="13258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Exact ρ*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89720" y="13258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Charikar 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469880" y="1325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D9FF"/>
                </a:solidFill>
              </a:rPr>
              <a:t>Triangle τ*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764792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0C1D2A"/>
          </a:solidFill>
          <a:ln w="762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58368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6FAFE"/>
                </a:solidFill>
              </a:rPr>
              <a:t>ca-netscience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331720" y="1874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379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749040" y="1874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914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5138928" y="1874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4.000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4.000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790956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4.000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9189720" y="1874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100.0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0469880" y="1874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9.333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66928" y="251460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102432"/>
          </a:solidFill>
          <a:ln w="762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58368" y="2624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6FAFE"/>
                </a:solidFill>
              </a:rPr>
              <a:t>ca-CSphd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2331720" y="26243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1,882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37490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1,740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5138928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1.250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653796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1.500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7909560" y="2624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1.500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9189720" y="2624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83.3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10469880" y="2624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0.667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66928" y="3264408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0C1D2A"/>
          </a:solidFill>
          <a:ln w="762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658368" y="3374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6FAFE"/>
                </a:solidFill>
              </a:rPr>
              <a:t>ca-GrQc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2331720" y="3374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4,158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3749040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13,422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5138928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22.391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6537960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22.391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7909560" y="3374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22.391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9189720" y="33741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100.0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0469880" y="33741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325.348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566928" y="4014216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102432"/>
          </a:solidFill>
          <a:ln w="762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0" name="Text 38"/>
          <p:cNvSpPr/>
          <p:nvPr/>
        </p:nvSpPr>
        <p:spPr>
          <a:xfrm>
            <a:off x="658368" y="4123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6FAFE"/>
                </a:solidFill>
              </a:rPr>
              <a:t>ca-HepTh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2331720" y="41239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11,204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3749040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117,619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138928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119.000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6537960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119.000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7909560" y="4123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119.000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9189720" y="41239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100.0</a:t>
            </a:r>
            <a:endParaRPr lang="en-US" sz="1030" dirty="0"/>
          </a:p>
        </p:txBody>
      </p:sp>
      <p:sp>
        <p:nvSpPr>
          <p:cNvPr id="47" name="Text 45"/>
          <p:cNvSpPr/>
          <p:nvPr/>
        </p:nvSpPr>
        <p:spPr>
          <a:xfrm>
            <a:off x="10469880" y="41239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9,401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566928" y="4764024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0C1D2A"/>
          </a:solidFill>
          <a:ln w="7620">
            <a:solidFill>
              <a:srgbClr val="16384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Text 47"/>
          <p:cNvSpPr/>
          <p:nvPr/>
        </p:nvSpPr>
        <p:spPr>
          <a:xfrm>
            <a:off x="658368" y="4873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6FAFE"/>
                </a:solidFill>
              </a:rPr>
              <a:t>ca-dblp-2012</a:t>
            </a:r>
            <a:endParaRPr lang="en-US" sz="1030" dirty="0"/>
          </a:p>
        </p:txBody>
      </p:sp>
      <p:sp>
        <p:nvSpPr>
          <p:cNvPr id="50" name="Text 48"/>
          <p:cNvSpPr/>
          <p:nvPr/>
        </p:nvSpPr>
        <p:spPr>
          <a:xfrm>
            <a:off x="2331720" y="48737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317,080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3749040" y="4873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1,049,866</a:t>
            </a:r>
            <a:endParaRPr lang="en-US" sz="1030" dirty="0"/>
          </a:p>
        </p:txBody>
      </p:sp>
      <p:sp>
        <p:nvSpPr>
          <p:cNvPr id="52" name="Text 50"/>
          <p:cNvSpPr/>
          <p:nvPr/>
        </p:nvSpPr>
        <p:spPr>
          <a:xfrm>
            <a:off x="5138928" y="4873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56.500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6537960" y="4873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56.565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7909560" y="4873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56.565</a:t>
            </a:r>
            <a:endParaRPr lang="en-US" sz="1030" dirty="0"/>
          </a:p>
        </p:txBody>
      </p:sp>
      <p:sp>
        <p:nvSpPr>
          <p:cNvPr id="55" name="Text 53"/>
          <p:cNvSpPr/>
          <p:nvPr/>
        </p:nvSpPr>
        <p:spPr>
          <a:xfrm>
            <a:off x="9189720" y="4873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99.885</a:t>
            </a:r>
            <a:endParaRPr lang="en-US" sz="1030" dirty="0"/>
          </a:p>
        </p:txBody>
      </p:sp>
      <p:sp>
        <p:nvSpPr>
          <p:cNvPr id="56" name="Text 54"/>
          <p:cNvSpPr/>
          <p:nvPr/>
        </p:nvSpPr>
        <p:spPr>
          <a:xfrm>
            <a:off x="10469880" y="48737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D8E5EF"/>
                </a:solidFill>
              </a:rPr>
              <a:t>2,109.333</a:t>
            </a:r>
            <a:endParaRPr lang="en-US" sz="1030" dirty="0"/>
          </a:p>
        </p:txBody>
      </p:sp>
      <p:sp>
        <p:nvSpPr>
          <p:cNvPr id="57" name="Text 55"/>
          <p:cNvSpPr/>
          <p:nvPr/>
        </p:nvSpPr>
        <p:spPr>
          <a:xfrm>
            <a:off x="658368" y="58795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8BD"/>
                </a:solidFill>
              </a:rPr>
              <a:t>Edge-density quality is measured against Goldberg Exact. Triangle τ* optimizes a different objective and is therefore not directly comparable to ρ*.</a:t>
            </a:r>
            <a:endParaRPr lang="en-US" sz="95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52881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8CA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1061</Words>
  <Application>Microsoft Macintosh PowerPoint</Application>
  <PresentationFormat>Widescreen</PresentationFormat>
  <Paragraphs>260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New Giza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DensiScope</dc:title>
  <dc:subject>DensiScope – Densest Subgraph Discovery on Large Collaboration Networks</dc:subject>
  <dc:creator>OpenAI</dc:creator>
  <cp:lastModifiedBy>Omar Kareem ElAttar</cp:lastModifiedBy>
  <cp:revision>4</cp:revision>
  <dcterms:created xsi:type="dcterms:W3CDTF">2026-09-05T01:49:19Z</dcterms:created>
  <dcterms:modified xsi:type="dcterms:W3CDTF">2026-09-07T18:44:21Z</dcterms:modified>
</cp:coreProperties>
</file>